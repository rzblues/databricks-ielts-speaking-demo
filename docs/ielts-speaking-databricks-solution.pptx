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introduce a Databricks solution that helps IELTS organizations automate the first assessment pass while preserving human oversight.</a:t>
            </a:r>
          </a:p>
          <a:p>
            <a:r>
              <a:t>Brand source: https://brand.databricks.com/</a:t>
            </a:r>
          </a:p>
          <a:p>
            <a:r>
              <a:t>Brand guidelines: https://brandguides.brandfolder.com/databricks-extended-brand-guidelines</a:t>
            </a:r>
          </a:p>
          <a:p>
            <a:r>
              <a:t>Product image: docs/assets/app-overview.png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frame the operating constraint, not to criticize examiners.</a:t>
            </a:r>
          </a:p>
          <a:p>
            <a:r>
              <a:t>Claims are qualitative and adapted from the supplied source deck. No unsupported cost or turnaround percentages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README.md, docs/architecture.md and resources/jobs.yml.</a:t>
            </a:r>
          </a:p>
          <a:p>
            <a:r>
              <a:t>The deployed bundle defines 10 tasks: setup, ingest, transcribe, feature extraction, Model Serving scoring, feature publish, SQL AI, quality checks, MLflow logging and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image: docs/assets/app-overview.png.</a:t>
            </a:r>
          </a:p>
          <a:p>
            <a:r>
              <a:t>Call out that the App supports listening to the scored audio directly and displays whether ASR and scoring are mock 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values are from the deployed demo report in docs/assets/app-overview.png.</a:t>
            </a:r>
          </a:p>
          <a:p>
            <a:r>
              <a:t>Overall scoring rule follows AGENTS.md: average the four dimensions and round to the nearest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docs/architecture.md, docs/loop_state.md and notebooks/00_setup.sql.</a:t>
            </a:r>
          </a:p>
          <a:p>
            <a:r>
              <a:t>Verified evidence in docs/loop_state.md: App RUNNING, non-mock Model Serving, 8 quality checks passed and 62 local tests passed.</a:t>
            </a:r>
          </a:p>
          <a:p>
            <a:r>
              <a:t>Deployment status is time-sensitive and should be rechecked before a live customer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Recommendation adapted from the supplied source deck, with unsupported numerical benefit claims removed.</a:t>
            </a:r>
          </a:p>
          <a:p>
            <a:r>
              <a:t>The pilot decision should define one cohort, a human-rater benchmark and explicit acceptance thresholds before production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153150" y="0"/>
            <a:ext cx="57150" cy="685800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25531" r="25531"/>
          <a:stretch>
            <a:fillRect/>
          </a:stretch>
        </p:blipFill>
        <p:spPr>
          <a:xfrm>
            <a:off x="6210300" y="57150"/>
            <a:ext cx="5981700" cy="68008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5519"/>
            <a:ext cx="1809750" cy="280511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533400" y="10668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75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DATABRICKS CUSTOMER SOLUTION</a:t>
            </a:r>
            <a:endParaRPr sz="975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619250"/>
            <a:ext cx="5095875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75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375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AI-assisted speaking</a:t>
            </a:r>
            <a:endParaRPr sz="375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98000"/>
              </a:lnSpc>
              <a:buNone/>
              <a:defRPr sz="375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375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assessment for</a:t>
            </a:r>
            <a:endParaRPr sz="375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98000"/>
              </a:lnSpc>
              <a:buNone/>
              <a:defRPr sz="375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375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IELTS organizations</a:t>
            </a:r>
            <a:endParaRPr sz="375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400050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Automated first-pass scoring, explainable feedback and governed human review on Databricks.</a:t>
            </a:r>
            <a:endParaRPr sz="165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33400" y="5095875"/>
            <a:ext cx="47625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528637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REAL AUDIO  /  WHISPER ASR  /  MODEL SERVING  /  DELTA</a:t>
            </a:r>
            <a:endParaRPr sz="900" b="1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60198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97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Estimated IELTS-style band score. Demo assessment, not a certified IELTS result.</a:t>
            </a:r>
            <a:endParaRPr sz="97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66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WHY CHANGE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281" y="266700"/>
            <a:ext cx="1474839" cy="2286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533400" y="6505575"/>
            <a:ext cx="111252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2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590550"/>
            <a:ext cx="942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45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Speaking assessment is constrained by examiner capacity</a:t>
            </a:r>
            <a:endParaRPr sz="24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1676400"/>
            <a:ext cx="57150" cy="2905125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714500"/>
            <a:ext cx="4191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5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800" b="0">
                <a:solidFill>
                  <a:srgbClr val="0B2026"/>
                </a:solidFill>
                <a:latin typeface="Arial Regular" panose="020B0604020202090204" charset="0"/>
                <a:ea typeface="DM Sans"/>
                <a:cs typeface="Arial Regular" panose="020B0604020202090204" charset="0"/>
              </a:rPr>
              <a:t>Feedback arrives</a:t>
            </a:r>
            <a:endParaRPr sz="2800" b="0">
              <a:solidFill>
                <a:srgbClr val="0B2026"/>
              </a:solidFill>
              <a:latin typeface="Arial Regular" panose="020B0604020202090204" charset="0"/>
              <a:ea typeface="DM Sans"/>
              <a:cs typeface="Arial Regular" panose="020B0604020202090204" charset="0"/>
            </a:endParaRPr>
          </a:p>
          <a:p>
            <a:pPr algn="l">
              <a:lnSpc>
                <a:spcPct val="98000"/>
              </a:lnSpc>
              <a:buNone/>
              <a:defRPr sz="35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800" b="0">
                <a:solidFill>
                  <a:srgbClr val="0B2026"/>
                </a:solidFill>
                <a:latin typeface="Arial Regular" panose="020B0604020202090204" charset="0"/>
                <a:ea typeface="DM Sans"/>
                <a:cs typeface="Arial Regular" panose="020B0604020202090204" charset="0"/>
              </a:rPr>
              <a:t>after the learning</a:t>
            </a:r>
            <a:endParaRPr sz="2800" b="0">
              <a:solidFill>
                <a:srgbClr val="0B2026"/>
              </a:solidFill>
              <a:latin typeface="Arial Regular" panose="020B0604020202090204" charset="0"/>
              <a:ea typeface="DM Sans"/>
              <a:cs typeface="Arial Regular" panose="020B0604020202090204" charset="0"/>
            </a:endParaRPr>
          </a:p>
          <a:p>
            <a:pPr algn="l">
              <a:lnSpc>
                <a:spcPct val="98000"/>
              </a:lnSpc>
              <a:buNone/>
              <a:defRPr sz="35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800" b="0">
                <a:solidFill>
                  <a:srgbClr val="0B2026"/>
                </a:solidFill>
                <a:latin typeface="Arial Regular" panose="020B0604020202090204" charset="0"/>
                <a:ea typeface="DM Sans"/>
                <a:cs typeface="Arial Regular" panose="020B0604020202090204" charset="0"/>
              </a:rPr>
              <a:t>moment.</a:t>
            </a:r>
            <a:endParaRPr sz="2800" b="0">
              <a:solidFill>
                <a:srgbClr val="0B2026"/>
              </a:solidFill>
              <a:latin typeface="Arial Regular" panose="020B0604020202090204" charset="0"/>
              <a:ea typeface="DM Sans"/>
              <a:cs typeface="Arial Regular" panose="020B06040202020902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095750"/>
            <a:ext cx="400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The recording already contains the signals. They are simply unscored, inconsistent and disconnected from action.</a:t>
            </a:r>
            <a:endParaRPr sz="14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476875" y="15716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01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48375" y="15430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Scarce examiner time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48375" y="1905000"/>
            <a:ext cx="528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Every score waits for a qualified reviewer; demand grows faster than capacity.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476875" y="2400300"/>
            <a:ext cx="5857875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476875" y="2505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02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48375" y="24765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Rater variability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48375" y="2838450"/>
            <a:ext cx="528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A band without a visible evidence trail is difficult to calibrate or defend.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5476875" y="3333750"/>
            <a:ext cx="5857875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476875" y="34385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03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48375" y="34099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Practice without diagnosis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48375" y="3771900"/>
            <a:ext cx="528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Word counts and pace alone do not explain fluency, language range or intelligibility.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5476875" y="4267200"/>
            <a:ext cx="5857875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476875" y="43719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04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48375" y="43434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Costs scale with headcount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48375" y="4705350"/>
            <a:ext cx="5286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More candidates create more review hours, especially during peak periods.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5524500"/>
            <a:ext cx="11125200" cy="685800"/>
          </a:xfrm>
          <a:prstGeom prst="rect">
            <a:avLst/>
          </a:prstGeom>
          <a:solidFill>
            <a:srgbClr val="F9F7F4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5524500"/>
            <a:ext cx="57150" cy="68580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705475"/>
            <a:ext cx="1040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The practical target is an automated first-pass assessment with human oversight, not a replacement for examiner judgment.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66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SOLUTION WORKFLOW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281" y="266700"/>
            <a:ext cx="1474839" cy="2286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533400" y="6505575"/>
            <a:ext cx="111252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3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590550"/>
            <a:ext cx="942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45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8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One governed path from recording to review</a:t>
            </a:r>
            <a:endParaRPr sz="28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143000" y="2457450"/>
            <a:ext cx="9906000" cy="9525"/>
          </a:xfrm>
          <a:prstGeom prst="line">
            <a:avLst/>
          </a:prstGeom>
          <a:noFill/>
          <a:ln w="19050">
            <a:solidFill>
              <a:srgbClr val="0B2026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933450" y="2247900"/>
            <a:ext cx="419100" cy="4191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8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58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sz="158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8600" y="1752600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Upload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2400" y="2933700"/>
            <a:ext cx="1981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Real candidate audio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registered to a new attempt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409950" y="2247900"/>
            <a:ext cx="419100" cy="4191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8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58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sz="158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05100" y="1752600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Transcribe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28900" y="2933700"/>
            <a:ext cx="1981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Whisper ASR produces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timestamped segments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886450" y="2247900"/>
            <a:ext cx="419100" cy="4191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8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58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sz="158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81600" y="1752600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Extract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05400" y="2933700"/>
            <a:ext cx="1981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16 explainable speech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and language features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362950" y="2247900"/>
            <a:ext cx="419100" cy="4191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8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58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4</a:t>
            </a:r>
            <a:endParaRPr sz="158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58100" y="1752600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Score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81900" y="2933700"/>
            <a:ext cx="1981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Model Serving returns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structured rubric estimates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0839450" y="2247900"/>
            <a:ext cx="419100" cy="4191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58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58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5</a:t>
            </a:r>
            <a:endParaRPr sz="158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134600" y="1752600"/>
            <a:ext cx="1828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6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Review</a:t>
            </a:r>
            <a:endParaRPr sz="16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58400" y="2933700"/>
            <a:ext cx="1981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App combines audio, score,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ctr">
              <a:lnSpc>
                <a:spcPct val="116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evidence and provenance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4171950"/>
            <a:ext cx="111252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43624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LIVE DEMO PATH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400300" y="4305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4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Real audio  +  Whisper  +  Databricks Model Serving  +  Delta tables  +  Databricks App</a:t>
            </a:r>
            <a:endParaRPr sz="14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3400" y="5029200"/>
            <a:ext cx="57150" cy="106680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0577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Same contract, two execution paths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54673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The App supports a one-step interactive assessment. A 10-task Lakeflow job supports repeatable batch and operational processing.</a:t>
            </a:r>
            <a:endParaRPr sz="127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66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REVIEWER EXPERIENCE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281" y="266700"/>
            <a:ext cx="1474839" cy="2286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533400" y="6505575"/>
            <a:ext cx="111252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4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590550"/>
            <a:ext cx="11137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0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 reviewer gets one report:</a:t>
            </a:r>
            <a:r>
              <a:rPr lang="en-US" sz="24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 </a:t>
            </a:r>
            <a:r>
              <a:rPr sz="24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score and evidence together</a:t>
            </a:r>
            <a:endParaRPr sz="24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1218565"/>
            <a:ext cx="1000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The live App keeps the candidate recording, transcript, rubric estimates, features and model provenance in one view.</a:t>
            </a:r>
            <a:endParaRPr sz="13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676275" y="1781175"/>
            <a:ext cx="266700" cy="2667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10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010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sz="1010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179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Overall band + four criteria</a:t>
            </a:r>
            <a:endParaRPr sz="12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4200525" y="1781175"/>
            <a:ext cx="266700" cy="2667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10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010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sz="1010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52950" y="179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Audio playback + transcript</a:t>
            </a:r>
            <a:endParaRPr sz="12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867650" y="1781175"/>
            <a:ext cx="266700" cy="26670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10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010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sz="1010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20075" y="179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Explainable signals + provenance</a:t>
            </a:r>
            <a:endParaRPr sz="12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2152650"/>
            <a:ext cx="11125200" cy="4038600"/>
          </a:xfrm>
          <a:prstGeom prst="rect">
            <a:avLst/>
          </a:prstGeom>
          <a:solidFill>
            <a:srgbClr val="F9F7F4"/>
          </a:solidFill>
          <a:ln w="9525">
            <a:solidFill>
              <a:srgbClr val="D9D7D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rcRect t="17972" b="17972"/>
          <a:stretch>
            <a:fillRect/>
          </a:stretch>
        </p:blipFill>
        <p:spPr>
          <a:xfrm>
            <a:off x="590550" y="2209800"/>
            <a:ext cx="11010900" cy="39243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33400" y="625792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Demo assessment. The score is an estimated IELTS-style band score, not a certified IELTS result.</a:t>
            </a:r>
            <a:endParaRPr sz="8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66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SCORING OUTPUT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281" y="266700"/>
            <a:ext cx="1474839" cy="2286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533400" y="6505575"/>
            <a:ext cx="111252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5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5905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0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30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The model produces four rubric-aligned estimates</a:t>
            </a:r>
            <a:endParaRPr sz="30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12192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Each dimension is supported by transcript evidence and explainable speech features.</a:t>
            </a:r>
            <a:endParaRPr sz="13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828800"/>
            <a:ext cx="233362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78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78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5.5</a:t>
            </a:r>
            <a:endParaRPr sz="78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30384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75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75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OVERALL BAND</a:t>
            </a:r>
            <a:endParaRPr sz="975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34385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Estimated demo score</a:t>
            </a:r>
            <a:endParaRPr sz="127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981325" y="1752600"/>
            <a:ext cx="9525" cy="3028950"/>
          </a:xfrm>
          <a:prstGeom prst="line">
            <a:avLst/>
          </a:prstGeom>
          <a:noFill/>
          <a:ln w="28575">
            <a:solidFill>
              <a:srgbClr val="FF362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18859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Fluency &amp;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coherence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33750" y="273367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FF3621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FF3621"/>
                </a:solidFill>
                <a:latin typeface="DM Sans"/>
                <a:ea typeface="DM Sans"/>
                <a:cs typeface="DM Sans"/>
              </a:rPr>
              <a:t>5.5</a:t>
            </a:r>
            <a:endParaRPr sz="3450" b="1">
              <a:solidFill>
                <a:srgbClr val="FF3621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33750" y="351472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Pace, pauses and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response structure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210175" y="1914525"/>
            <a:ext cx="9525" cy="2400300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429250" y="18859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Lexical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resource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429250" y="273367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FF3621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FF3621"/>
                </a:solidFill>
                <a:latin typeface="DM Sans"/>
                <a:ea typeface="DM Sans"/>
                <a:cs typeface="DM Sans"/>
              </a:rPr>
              <a:t>5.5</a:t>
            </a:r>
            <a:endParaRPr sz="3450" b="1">
              <a:solidFill>
                <a:srgbClr val="FF3621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29250" y="351472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Vocabulary range and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lexical diversity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305675" y="1914525"/>
            <a:ext cx="9525" cy="2400300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524750" y="18859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Grammar range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&amp; accuracy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524750" y="273367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FF3621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FF3621"/>
                </a:solidFill>
                <a:latin typeface="DM Sans"/>
                <a:ea typeface="DM Sans"/>
                <a:cs typeface="DM Sans"/>
              </a:rPr>
              <a:t>5.5</a:t>
            </a:r>
            <a:endParaRPr sz="3450" b="1">
              <a:solidFill>
                <a:srgbClr val="FF3621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24750" y="351472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Sentence variety and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error evidence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9401175" y="1914525"/>
            <a:ext cx="9525" cy="2400300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620250" y="1885950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Pronunciation /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02000"/>
              </a:lnSpc>
              <a:buNone/>
              <a:defRPr sz="15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intelligibility</a:t>
            </a:r>
            <a:endParaRPr sz="15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20250" y="2733675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FF3621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FF3621"/>
                </a:solidFill>
                <a:latin typeface="DM Sans"/>
                <a:ea typeface="DM Sans"/>
                <a:cs typeface="DM Sans"/>
              </a:rPr>
              <a:t>6.0</a:t>
            </a:r>
            <a:endParaRPr sz="3450" b="1">
              <a:solidFill>
                <a:srgbClr val="FF3621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620250" y="351472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ASR confidence and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14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timing features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3400" y="4991100"/>
            <a:ext cx="11125200" cy="1028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2197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BAND MATH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400300" y="5133975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B2026"/>
                </a:solidFill>
                <a:latin typeface="DM Mono"/>
                <a:ea typeface="DM Mono"/>
                <a:cs typeface="DM Mono"/>
              </a:defRPr>
            </a:pPr>
            <a:r>
              <a:rPr sz="1800" b="1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(5.5 + 5.5 + 5.5 + 6.0) / 4 = 5.625  -&gt;  5.5</a:t>
            </a:r>
            <a:endParaRPr sz="1800" b="1">
              <a:solidFill>
                <a:srgbClr val="0B2026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400300" y="556260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Average the four dimensions, then round to the nearest 0.5. Pronunciation is an intelligibility estimate, not phoneme-level diagnosis.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66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DATABRICKS ARCHITECTURE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281" y="266700"/>
            <a:ext cx="1474839" cy="2286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533400" y="6505575"/>
            <a:ext cx="111252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6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590550"/>
            <a:ext cx="9525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0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Databricks keeps data, model and review under one governance model</a:t>
            </a:r>
            <a:endParaRPr sz="24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150495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Unity Catalog and attempt_id lineage connect each layer from candidate audio to the final report.</a:t>
            </a:r>
            <a:endParaRPr sz="13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1905000"/>
            <a:ext cx="8020050" cy="742950"/>
          </a:xfrm>
          <a:prstGeom prst="rect">
            <a:avLst/>
          </a:prstGeom>
          <a:solidFill>
            <a:srgbClr val="FFF0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21526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04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20574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7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Experience</a:t>
            </a:r>
            <a:endParaRPr sz="157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20288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Databricks App  /  10-task Lakeflow job</a:t>
            </a:r>
            <a:endParaRPr sz="142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43250" y="2352675"/>
            <a:ext cx="504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Interactive review and repeatable operations</a:t>
            </a:r>
            <a:endParaRPr sz="10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2781300"/>
            <a:ext cx="8020050" cy="742950"/>
          </a:xfrm>
          <a:prstGeom prst="rect">
            <a:avLst/>
          </a:prstGeom>
          <a:solidFill>
            <a:srgbClr val="F9F7F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2950" y="3028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03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29337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7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AI &amp; ML</a:t>
            </a:r>
            <a:endParaRPr sz="157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143250" y="29051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Model Serving  /  MLflow  /  SQL AI</a:t>
            </a:r>
            <a:endParaRPr sz="142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3228975"/>
            <a:ext cx="504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Structured scoring, experiment tracking and transcript enrichment</a:t>
            </a:r>
            <a:endParaRPr sz="10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3657600"/>
            <a:ext cx="8020050" cy="742950"/>
          </a:xfrm>
          <a:prstGeom prst="rect">
            <a:avLst/>
          </a:prstGeom>
          <a:solidFill>
            <a:srgbClr val="EEEDE9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3905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02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95400" y="38100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7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Features &amp; quality</a:t>
            </a:r>
            <a:endParaRPr sz="157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37814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Feature Engineering  /  16 features  /  8 quality checks</a:t>
            </a:r>
            <a:endParaRPr sz="142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143250" y="4105275"/>
            <a:ext cx="504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Reusable signals, validation and active monitoring</a:t>
            </a:r>
            <a:endParaRPr sz="10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4533900"/>
            <a:ext cx="8020050" cy="742950"/>
          </a:xfrm>
          <a:prstGeom prst="rect">
            <a:avLst/>
          </a:prstGeom>
          <a:solidFill>
            <a:srgbClr val="F9F7F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4781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05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01</a:t>
            </a:r>
            <a:endParaRPr sz="105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95400" y="46863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57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Governed data</a:t>
            </a:r>
            <a:endParaRPr sz="157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43250" y="46577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8 Delta tables  /  Unity Catalog  /  Volume</a:t>
            </a:r>
            <a:endParaRPr sz="1425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143250" y="4981575"/>
            <a:ext cx="504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Audio metadata, transcripts, features, scores and processing evidence</a:t>
            </a:r>
            <a:endParaRPr sz="105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896350" y="1905000"/>
            <a:ext cx="9525" cy="3333750"/>
          </a:xfrm>
          <a:prstGeom prst="line">
            <a:avLst/>
          </a:prstGeom>
          <a:noFill/>
          <a:ln w="28575">
            <a:solidFill>
              <a:srgbClr val="FF362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20200" y="19240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VERIFIED IN DEMO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20200" y="24003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Databricks App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220200" y="2657475"/>
            <a:ext cx="2095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Mono"/>
                <a:ea typeface="DM Mono"/>
                <a:cs typeface="DM Mono"/>
              </a:defRPr>
            </a:pPr>
            <a:r>
              <a:rPr sz="1575" b="1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RUNNING</a:t>
            </a:r>
            <a:endParaRPr sz="1575" b="1">
              <a:solidFill>
                <a:srgbClr val="0B2026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9220200" y="3009900"/>
            <a:ext cx="219075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220200" y="31146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Model Serving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220200" y="3371850"/>
            <a:ext cx="2095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Mono"/>
                <a:ea typeface="DM Mono"/>
                <a:cs typeface="DM Mono"/>
              </a:defRPr>
            </a:pPr>
            <a:r>
              <a:rPr sz="1575" b="1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NON-MOCK</a:t>
            </a:r>
            <a:endParaRPr sz="1575" b="1">
              <a:solidFill>
                <a:srgbClr val="0B2026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9220200" y="3724275"/>
            <a:ext cx="219075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220200" y="38290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Quality checks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220200" y="4086225"/>
            <a:ext cx="2095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Mono"/>
                <a:ea typeface="DM Mono"/>
                <a:cs typeface="DM Mono"/>
              </a:defRPr>
            </a:pPr>
            <a:r>
              <a:rPr sz="1575" b="1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8 / 8 PASS</a:t>
            </a:r>
            <a:endParaRPr sz="1575" b="1">
              <a:solidFill>
                <a:srgbClr val="0B2026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9220200" y="4438650"/>
            <a:ext cx="219075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220200" y="45434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Local test suite</a:t>
            </a:r>
            <a:endParaRPr sz="1200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220200" y="4800600"/>
            <a:ext cx="2095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2026"/>
                </a:solidFill>
                <a:latin typeface="DM Mono"/>
                <a:ea typeface="DM Mono"/>
                <a:cs typeface="DM Mono"/>
              </a:defRPr>
            </a:pPr>
            <a:r>
              <a:rPr sz="1575" b="1">
                <a:solidFill>
                  <a:srgbClr val="0B2026"/>
                </a:solidFill>
                <a:latin typeface="DM Mono"/>
                <a:ea typeface="DM Mono"/>
                <a:cs typeface="DM Mono"/>
              </a:rPr>
              <a:t>62 PASSED</a:t>
            </a:r>
            <a:endParaRPr sz="1575" b="1">
              <a:solidFill>
                <a:srgbClr val="0B2026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33400" y="56578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Candidate audio bytes stay in the governed Volume. Delta stores paths and metadata, keyed by attempt_id.</a:t>
            </a:r>
            <a:endParaRPr sz="11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6670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PILOT RECOMMENDATION</a:t>
            </a:r>
            <a:endParaRPr sz="900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281" y="266700"/>
            <a:ext cx="1474839" cy="2286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533400" y="6505575"/>
            <a:ext cx="11125200" cy="9525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7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5905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30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30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 30-day pilot proves scoring quality before scale</a:t>
            </a:r>
            <a:endParaRPr sz="30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12192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F6B70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5F6B70"/>
                </a:solidFill>
                <a:latin typeface="DM Sans"/>
                <a:ea typeface="DM Sans"/>
                <a:cs typeface="DM Sans"/>
              </a:rPr>
              <a:t>Start with one cohort, benchmark against human raters and retain human review for edge cases.</a:t>
            </a:r>
            <a:endParaRPr sz="1425" b="0">
              <a:solidFill>
                <a:srgbClr val="5F6B7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428750" y="2324100"/>
            <a:ext cx="9239250" cy="9525"/>
          </a:xfrm>
          <a:prstGeom prst="line">
            <a:avLst/>
          </a:prstGeom>
          <a:noFill/>
          <a:ln w="19050">
            <a:solidFill>
              <a:srgbClr val="0B2026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457325" y="2162175"/>
            <a:ext cx="323850" cy="3238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2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22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1</a:t>
            </a:r>
            <a:endParaRPr sz="122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934075" y="2162175"/>
            <a:ext cx="323850" cy="3238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2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22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2</a:t>
            </a:r>
            <a:endParaRPr sz="122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410825" y="2162175"/>
            <a:ext cx="323850" cy="3238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225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1225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3</a:t>
            </a:r>
            <a:endParaRPr sz="1225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2724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125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DAYS 1-7</a:t>
            </a:r>
            <a:endParaRPr sz="1125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31527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Align &amp; scope</a:t>
            </a:r>
            <a:endParaRPr sz="21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33400" y="3829050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376237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Confirm the business KPI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533400" y="4200525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413385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Lock the rubric with academics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33400" y="4572000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450532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Define audio sources and entities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533400" y="4943475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487680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Agree PII, retention and access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3962400" y="2724150"/>
            <a:ext cx="9525" cy="2343150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05300" y="2724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125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DAYS 8-21</a:t>
            </a:r>
            <a:endParaRPr sz="1125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305300" y="31527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Build the pilot</a:t>
            </a:r>
            <a:endParaRPr sz="21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305300" y="3829050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495800" y="376237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Connect real learner audio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4305300" y="4200525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495800" y="413385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Run ASR and Model Serving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305300" y="4572000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495800" y="450532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Publish features and quality checks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4305300" y="4943475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495800" y="487680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Track runs and ship the App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7734300" y="2724150"/>
            <a:ext cx="9525" cy="2343150"/>
          </a:xfrm>
          <a:prstGeom prst="line">
            <a:avLst/>
          </a:prstGeom>
          <a:noFill/>
          <a:ln w="9525">
            <a:solidFill>
              <a:srgbClr val="D9D7D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077200" y="2724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F3621"/>
                </a:solidFill>
                <a:latin typeface="DM Mono"/>
                <a:ea typeface="DM Mono"/>
                <a:cs typeface="DM Mono"/>
              </a:defRPr>
            </a:pPr>
            <a:r>
              <a:rPr sz="1125" b="1">
                <a:solidFill>
                  <a:srgbClr val="FF3621"/>
                </a:solidFill>
                <a:latin typeface="DM Mono"/>
                <a:ea typeface="DM Mono"/>
                <a:cs typeface="DM Mono"/>
              </a:rPr>
              <a:t>DAYS 22-30</a:t>
            </a:r>
            <a:endParaRPr sz="1125" b="1">
              <a:solidFill>
                <a:srgbClr val="FF3621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31527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B202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0B2026"/>
                </a:solidFill>
                <a:latin typeface="DM Sans"/>
                <a:ea typeface="DM Sans"/>
                <a:cs typeface="DM Sans"/>
              </a:rPr>
              <a:t>Validate &amp; decide</a:t>
            </a:r>
            <a:endParaRPr sz="2100" b="1">
              <a:solidFill>
                <a:srgbClr val="0B2026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8077200" y="3829050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267700" y="376237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Compare with human raters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8077200" y="4200525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267700" y="413385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Assess turnaround and cost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8077200" y="4572000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267700" y="4505325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Review edge cases and controls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8077200" y="4943475"/>
            <a:ext cx="57150" cy="57150"/>
          </a:xfrm>
          <a:prstGeom prst="ellipse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267700" y="4876800"/>
            <a:ext cx="3095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B252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1B2529"/>
                </a:solidFill>
                <a:latin typeface="DM Sans"/>
                <a:ea typeface="DM Sans"/>
                <a:cs typeface="DM Sans"/>
              </a:rPr>
              <a:t>Define the production roadmap</a:t>
            </a:r>
            <a:endParaRPr sz="1200" b="0">
              <a:solidFill>
                <a:srgbClr val="1B2529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0" y="5467350"/>
            <a:ext cx="12192000" cy="1047750"/>
          </a:xfrm>
          <a:prstGeom prst="rect">
            <a:avLst/>
          </a:prstGeom>
          <a:solidFill>
            <a:srgbClr val="FF3621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33400" y="5676900"/>
            <a:ext cx="876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Pilot one cohort. Compare criterion by criterion.</a:t>
            </a:r>
            <a:endParaRPr sz="2025" b="1">
              <a:solidFill>
                <a:srgbClr val="FFFFFF"/>
              </a:solidFill>
              <a:latin typeface="DM Sans"/>
              <a:ea typeface="DM Sans"/>
              <a:cs typeface="DM Sans"/>
            </a:endParaRPr>
          </a:p>
          <a:p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Scale only after scoring quality and governance are accepted.</a:t>
            </a:r>
            <a:endParaRPr sz="2025" b="1">
              <a:solidFill>
                <a:srgbClr val="FFFFFF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296400" y="58864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DM Mono"/>
                <a:ea typeface="DM Mono"/>
                <a:cs typeface="DM Mono"/>
              </a:defRPr>
            </a:pPr>
            <a:r>
              <a:rPr sz="900" b="1">
                <a:solidFill>
                  <a:srgbClr val="FFFFFF"/>
                </a:solidFill>
                <a:latin typeface="DM Mono"/>
                <a:ea typeface="DM Mono"/>
                <a:cs typeface="DM Mono"/>
              </a:rPr>
              <a:t>DECISION: PILOT SCOPE + SUCCESS METRICS</a:t>
            </a:r>
            <a:endParaRPr sz="900" b="1">
              <a:solidFill>
                <a:srgbClr val="FFFFFF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33400" y="65817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AI-assisted IELTS speaking assessment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1049000" y="6581775"/>
            <a:ext cx="609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750" b="0">
                <a:solidFill>
                  <a:srgbClr val="5F6B70"/>
                </a:solidFill>
                <a:latin typeface="DM Mono"/>
                <a:ea typeface="DM Mono"/>
                <a:cs typeface="DM Mono"/>
              </a:defRPr>
            </a:pPr>
            <a:r>
              <a:rPr sz="750" b="0">
                <a:solidFill>
                  <a:srgbClr val="5F6B70"/>
                </a:solidFill>
                <a:latin typeface="DM Mono"/>
                <a:ea typeface="DM Mono"/>
                <a:cs typeface="DM Mono"/>
              </a:rPr>
              <a:t>7 / 7</a:t>
            </a:r>
            <a:endParaRPr sz="750" b="0">
              <a:solidFill>
                <a:srgbClr val="5F6B70"/>
              </a:solidFill>
              <a:latin typeface="DM Mono"/>
              <a:ea typeface="DM Mono"/>
              <a:cs typeface="DM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4496</Words>
  <Application>WPS 演示</Application>
  <PresentationFormat>Converted Presentation</PresentationFormat>
  <Paragraphs>304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DM Mono</vt:lpstr>
      <vt:lpstr>Thonburi</vt:lpstr>
      <vt:lpstr>DM Sans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DM Mono</vt:lpstr>
      <vt:lpstr>DM Sans</vt:lpstr>
      <vt:lpstr>苹方-简</vt:lpstr>
      <vt:lpstr>Times New Roman Regular</vt:lpstr>
      <vt:lpstr>Arial Regular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rukawa</cp:lastModifiedBy>
  <cp:revision>1</cp:revision>
  <dcterms:created xsi:type="dcterms:W3CDTF">2026-07-14T15:13:05Z</dcterms:created>
  <dcterms:modified xsi:type="dcterms:W3CDTF">2026-07-14T15:13:05Z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DA542C843F68DF610152566AB6303893_42</vt:lpwstr>
  </property>
  <property fmtid="{D5CDD505-2E9C-101B-9397-08002B2CF9AE}" pid="3" name="KSOProductBuildVer">
    <vt:lpwstr>2052-6.5.2.8766</vt:lpwstr>
  </property>
</Properties>
</file>